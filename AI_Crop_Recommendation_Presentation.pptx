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A5F3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88720" y="1463040"/>
            <a:ext cx="38404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PRECISION AGRICULTURE · MERN STACK ·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Crop Recommendation &amp; Precision Yield Forecast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1FAE5"/>
                </a:solidFill>
              </a:defRPr>
            </a:pPr>
            <a:r>
              <a:t>A full-stack agricultural decision-support platform with soil NPK analysis, live weather synchronization, and dynamic land-area input scaling.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754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Technology: React.js · Express.js · Node.js · MongoDB Atlas · k-NN Machine Learning (23 Crops)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BACKGROUND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532D"/>
                </a:solidFill>
              </a:defRPr>
            </a:pPr>
            <a:r>
              <a:t>❌ Traditional Guesswork</a:t>
            </a:r>
          </a:p>
          <a:p>
            <a:br/>
            <a:r>
              <a:t>Farmers frequently cultivate crops based on habit or neighboring trends rather than soil scientific testing, resulting in devastating seasonal crop failures.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532D"/>
                </a:solidFill>
              </a:defRPr>
            </a:pPr>
            <a:r>
              <a:t>❌ Soil Nutrient Imbalance</a:t>
            </a:r>
          </a:p>
          <a:p>
            <a:br/>
            <a:r>
              <a:t>Indiscriminate application of chemical fertilizers without knowing soil NPK deficits damages soil ecology, causes root burn, and wastes farmers' money.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532D"/>
                </a:solidFill>
              </a:defRPr>
            </a:pPr>
            <a:r>
              <a:t>❌ Lack of Farm-Scale Guidance</a:t>
            </a:r>
          </a:p>
          <a:p>
            <a:br/>
            <a:r>
              <a:t>Existing online tools only give a crop name. Farmers are left asking: 'How much harvest will I get on my 2.5 acres?' and 'How many fertilizer bags do I buy?'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532D"/>
                </a:solidFill>
              </a:defRPr>
            </a:pPr>
            <a:r>
              <a:t>🎯 Objective: Provide an instant, intelligent web system that evaluates 7 environmental features and delivers an actionable, acre-scaled agricultural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SYSTEM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Proposed Solution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✔ 7-Factor Multi-Variate Analysis: </a:t>
            </a:r>
            <a:r>
              <a:rPr b="0">
                <a:solidFill>
                  <a:srgbClr val="475569"/>
                </a:solidFill>
              </a:rPr>
              <a:t>Evaluates Nitrogen, Phosphorus, Potassium, Temperature, Humidity, Soil pH, and Rainfall simultaneously.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✔ Sub-Millisecond ML Classification: </a:t>
            </a:r>
            <a:r>
              <a:rPr b="0">
                <a:solidFill>
                  <a:srgbClr val="475569"/>
                </a:solidFill>
              </a:rPr>
              <a:t>Recommends the best-fit crop among 23 varieties with match confidence and viable alternatives.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5478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✔ Dynamic Land Area Scaling: </a:t>
            </a:r>
            <a:r>
              <a:rPr b="0">
                <a:solidFill>
                  <a:srgbClr val="475569"/>
                </a:solidFill>
              </a:rPr>
              <a:t>Calculates expected yield (quintals/tons), seed weight, and fertilizer bags for the farmer's specific field area.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✔ Live Meteorological Sync: </a:t>
            </a:r>
            <a:r>
              <a:rPr b="0">
                <a:solidFill>
                  <a:srgbClr val="475569"/>
                </a:solidFill>
              </a:rPr>
              <a:t>Fetches real-time temperature and humidity automatically by city name via OpenWeatherMap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766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✔ Cloud Audit Trail &amp; Resilience: </a:t>
            </a:r>
            <a:r>
              <a:rPr b="0">
                <a:solidFill>
                  <a:srgbClr val="475569"/>
                </a:solidFill>
              </a:rPr>
              <a:t>Stores all past recommendations in MongoDB Atlas with resilient in-memory fallback for 100%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FULL-STACK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System Architecture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rPr dirty="0"/>
              <a:t>1. Frontend (React.js + Vite)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 dirty="0"/>
              <a:t>• User-friendly single-page dashboard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 dirty="0"/>
              <a:t>• Live NPK live visual indicator bars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 dirty="0"/>
              <a:t>• 1-Click quick presets (e.g. Chilli, Rice)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 dirty="0"/>
              <a:t>• Land area forecast cards &amp; encyclopedia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175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rPr dirty="0"/>
              <a:t>2. Backend (Express.js / Node.js)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 dirty="0"/>
              <a:t>• RESTful API routes (/</a:t>
            </a:r>
            <a:r>
              <a:rPr sz="2000" dirty="0" err="1"/>
              <a:t>api</a:t>
            </a:r>
            <a:r>
              <a:rPr sz="2000" dirty="0"/>
              <a:t>/predict, /</a:t>
            </a:r>
            <a:r>
              <a:rPr sz="2000" dirty="0" err="1"/>
              <a:t>api</a:t>
            </a:r>
            <a:r>
              <a:rPr sz="2000" dirty="0"/>
              <a:t>/crops)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 dirty="0"/>
              <a:t>• Built-in ML inference pipeline (k-NN)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 dirty="0"/>
              <a:t>• Land area scaling engine (cropMetrics.js)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OpenWeatherMap</a:t>
            </a:r>
            <a:r>
              <a:rPr sz="2000" dirty="0"/>
              <a:t> proxy &amp; input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0175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rPr dirty="0"/>
              <a:t>3. Database &amp; Cloud (MongoDB Atlas)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 dirty="0"/>
              <a:t>• Crop Schema (23 crop benchmarks)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 dirty="0"/>
              <a:t>• Prediction Schema (field audit logs)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 dirty="0"/>
              <a:t>• Automatic seeder on startup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 dirty="0"/>
              <a:t>• High-availability cloud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BIOCHEMICAL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The 7 Agricultural Parameters &amp;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Biological Importance in Crop Growth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Typical Range in Dataset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Nitrogen 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mg/kg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Drives vegetative leaf development &amp; foliage vigor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 – 140 mg/kg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Phosphorus (P)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mg/kg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Accelerates root growth, flowering &amp; seed formation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 – 145 mg/kg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Potassium (K)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mg/kg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Regulates water pressure, disease resistance &amp; fruit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 – 205 mg/kg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°C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Controls photosynthesis, transpiration &amp; germination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8.8 – 43.7 °C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Humidity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Influences plant evaporation rate &amp; fungal resistance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14.3 – 99.8 %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Soil pH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pH scale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Governs nutrient solubility &amp; root zone chemistry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3.5 – 9.9 pH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Rainfall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Total seasonal water availability from precipitation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20.2 – 298.6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CORE AI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Machine Learning Engine &amp;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t>Model Benchmark</a:t>
            </a:r>
          </a:p>
          <a:p>
            <a:pPr>
              <a:defRPr sz="4400" b="1">
                <a:solidFill>
                  <a:srgbClr val="10B981"/>
                </a:solidFill>
              </a:defRPr>
            </a:pPr>
            <a:r>
              <a:t>97.52%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5-Fold Cross-Validation Accuracy</a:t>
            </a:r>
            <a:br/>
            <a:endParaRPr/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Dataset Size: 2,300 observations</a:t>
            </a:r>
            <a:br/>
            <a:r>
              <a:t>• Target Classes: 23 Crop Varieties</a:t>
            </a:r>
            <a:br/>
            <a:r>
              <a:t>• Normalization: Z-Score Standardization</a:t>
            </a:r>
            <a:br/>
            <a:r>
              <a:t>• Inference Time: &lt; 1 millisecond</a:t>
            </a:r>
            <a:br/>
            <a:r>
              <a:t>• Zero Python dependencies 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737360"/>
            <a:ext cx="6339535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192024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t>Algorithm: Distance-Weighted k-Nearest Neighbors</a:t>
            </a:r>
          </a:p>
          <a:p>
            <a:br/>
            <a:r>
              <a:t>1. Normalization Step:</a:t>
            </a:r>
            <a:br/>
            <a:r>
              <a:t>Scales each incoming feature: z = (x - mean) / std_dev so large rainfall values (200 mm) do not dwarf soil pH (6.5).</a:t>
            </a:r>
            <a:br/>
            <a:br/>
            <a:r>
              <a:t>2. Multi-Dimensional Euclidean Distance:</a:t>
            </a:r>
            <a:br/>
            <a:r>
              <a:t>Calculates geometric proximity across all 7 agronomic dimensions.</a:t>
            </a:r>
            <a:br/>
            <a:br/>
            <a:r>
              <a:t>3. Inverse-Distance Weighting:</a:t>
            </a:r>
            <a:br/>
            <a:r>
              <a:t>Top 7 nearest neighbors vote with weight W = 1 / (distance + ε). Closer data points carry exponentially higher voting influence.</a:t>
            </a:r>
            <a:br/>
            <a:br/>
            <a:r>
              <a:t>4. Supported Groups:</a:t>
            </a:r>
            <a:br/>
            <a:r>
              <a:t>Cereals (Rice, Maize), Pulses (Chickpea, Lentil), Fruits (Apple, Mango, Banana), Cash Crops (Cotton, Coffee), and Spices (Chilli).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AGRONOMIC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Core Innovation: Land Area &amp; Input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32D"/>
                </a:solidFill>
              </a:defRPr>
            </a:pPr>
            <a:r>
              <a:t>🌾 Harvest Yield Estimation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Scales commercial crop harvest benchmarks in quintals or metric tons according to the farmer's acreage.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291840" cy="64008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e.g., 2.5 Acres Chilli ➔ 45 to 62.5 Quintals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32D"/>
                </a:solidFill>
              </a:defRPr>
            </a:pPr>
            <a:r>
              <a:t>🧪 Total Fertilizer Requirement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Translates NPK deficits into physical kilogram dosages and standard 50 kg commercial bag 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971800"/>
            <a:ext cx="3291840" cy="64008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e.g., 2.5 Acres Chilli ➔ 250 - 300 kg (approx 6.3 bags)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32D"/>
                </a:solidFill>
              </a:defRPr>
            </a:pPr>
            <a:r>
              <a:t>🌱 Seed Rate &amp; Plant Density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Calculates required seed weight (kg) or sapling counts for nursery transplanting.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114800"/>
            <a:ext cx="3291840" cy="64008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e.g., 2.5 Acres Chilli ➔ 2.5 - 3.8 kg seeds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32D"/>
                </a:solidFill>
              </a:defRPr>
            </a:pPr>
            <a:r>
              <a:t>💧 Irrigation &amp; Water Volume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Forecasts seasonal water needs in mm and specifies optimal irrigation methods (e.g. drip).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5257800"/>
            <a:ext cx="3291840" cy="64008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e.g., Chilli ➔ 500 - 600 mm total irrigation (drip)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REAL FARM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Live System Output: Case Study 1 — Chilli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572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t>Farmer Input Parameters</a:t>
            </a:r>
          </a:p>
          <a:p>
            <a:br/>
            <a:r>
              <a:t>• Location: Guntur, Andhra Pradesh</a:t>
            </a:r>
            <a:br/>
            <a:r>
              <a:t>• Land Area: 2.5 Acres</a:t>
            </a:r>
            <a:br/>
            <a:r>
              <a:t>• Nitrogen (N): 100 mg/kg</a:t>
            </a:r>
            <a:br/>
            <a:r>
              <a:t>• Phosphorus (P): 60 mg/kg</a:t>
            </a:r>
            <a:br/>
            <a:r>
              <a:t>• Potassium (K): 55 mg/kg</a:t>
            </a:r>
            <a:br/>
            <a:r>
              <a:t>• Temperature: 28.5 °C (Warm climate)</a:t>
            </a:r>
            <a:br/>
            <a:r>
              <a:t>• Humidity: 67 % (Moderate)</a:t>
            </a:r>
            <a:br/>
            <a:r>
              <a:t>• Soil pH: 6.5 (Optimal loamy soil)</a:t>
            </a:r>
            <a:br/>
            <a:r>
              <a:t>• Rainfall: 85 mm (Moderate precipitation)</a:t>
            </a:r>
            <a:br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77840" y="1737360"/>
            <a:ext cx="5882335" cy="4480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t>🎯 AI Prediction &amp; Scaled Output</a:t>
            </a:r>
          </a:p>
          <a:p>
            <a:br/>
            <a:r>
              <a:t>✔ Optimal Crop Match: CHILLI (Confidence: 100%)</a:t>
            </a:r>
            <a:br/>
            <a:r>
              <a:t>✔ Soil Nutrient Status: N: Balanced, P: Balanced, K: Balanced</a:t>
            </a:r>
            <a:br/>
            <a:r>
              <a:t>✔ Advisory Fertilizer: NPK 19-19-19 &amp; Potassium Nitrate</a:t>
            </a:r>
            <a:br/>
            <a:r>
              <a:t>✔ Chemical Rationale: Promotes heavy flowering &amp; capsaicin.</a:t>
            </a:r>
            <a:br/>
            <a:br/>
            <a:r>
              <a:t>📊 Land Area Forecast (for 2.5 Acres):</a:t>
            </a:r>
            <a:br/>
            <a:r>
              <a:t>• Estimated Harvest: 45 – 62.5 quintals (dry)</a:t>
            </a:r>
            <a:br/>
            <a:r>
              <a:t>• Total Fertilizer: 250 – 300 kg NPK (approx 6.3 bags)</a:t>
            </a:r>
            <a:br/>
            <a:r>
              <a:t>• Seed Rate: 2.5 – 3.8 kg seeds (nursery transplant)</a:t>
            </a:r>
            <a:br/>
            <a:r>
              <a:t>• Irrigation Need: 500 – 600 mm total irrigation</a:t>
            </a:r>
            <a:br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WET CLIMATE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Live System Output: Case Study 2 — 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572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t>Farmer Input Parameters</a:t>
            </a:r>
          </a:p>
          <a:p>
            <a:br/>
            <a:r>
              <a:t>• Location: Cuttack, Odisha</a:t>
            </a:r>
            <a:br/>
            <a:r>
              <a:t>• Land Area: 3.0 Acres</a:t>
            </a:r>
            <a:br/>
            <a:r>
              <a:t>• Nitrogen (N): 90 mg/kg</a:t>
            </a:r>
            <a:br/>
            <a:r>
              <a:t>• Phosphorus (P): 42 mg/kg</a:t>
            </a:r>
            <a:br/>
            <a:r>
              <a:t>• Potassium (K): 43 mg/kg</a:t>
            </a:r>
            <a:br/>
            <a:r>
              <a:t>• Temperature: 21.0 °C</a:t>
            </a:r>
            <a:br/>
            <a:r>
              <a:t>• Humidity: 82 % (Very humid)</a:t>
            </a:r>
            <a:br/>
            <a:r>
              <a:t>• Soil pH: 6.5</a:t>
            </a:r>
            <a:br/>
            <a:r>
              <a:t>• Rainfall: 203 mm (Heavy monsoon rainfall)</a:t>
            </a:r>
            <a:br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77840" y="1737360"/>
            <a:ext cx="5882335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t>🎯 AI Prediction &amp; Scaled Output</a:t>
            </a:r>
          </a:p>
          <a:p>
            <a:br/>
            <a:r>
              <a:t>✔ Optimal Crop Match: RICE (Confidence: 94%)</a:t>
            </a:r>
            <a:br/>
            <a:r>
              <a:t>✔ Soil Nutrient Status: N: Balanced, P: Balanced, K: Low</a:t>
            </a:r>
            <a:br/>
            <a:r>
              <a:t>✔ Advisory Fertilizer: Muriate of Potash (MOP) &amp; Urea</a:t>
            </a:r>
            <a:br/>
            <a:r>
              <a:t>✔ Chemical Rationale: Replenishes potassium for grain filling.</a:t>
            </a:r>
            <a:br/>
            <a:br/>
            <a:r>
              <a:t>📊 Land Area Forecast (for 3.0 Acres):</a:t>
            </a:r>
            <a:br/>
            <a:r>
              <a:t>• Estimated Harvest: 66 – 90 quintals</a:t>
            </a:r>
            <a:br/>
            <a:r>
              <a:t>• Total Fertilizer: 360 – 450 kg (approx 9 bags Urea &amp; DAP)</a:t>
            </a:r>
            <a:br/>
            <a:r>
              <a:t>• Seed Rate: 45 – 60 kg seeds (transplanting)</a:t>
            </a:r>
            <a:br/>
            <a:r>
              <a:t>• Irrigation Need: 1200 – 1400 mm standing water</a:t>
            </a:r>
            <a:br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INTEGRATION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Live Weather Sync &amp; Cloud Database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t>☁️ OpenWeatherMap API Sync</a:t>
            </a:r>
          </a:p>
          <a:p>
            <a:br/>
            <a:r>
              <a:t>• Zero Manual Hassle:</a:t>
            </a:r>
            <a:br/>
            <a:r>
              <a:t>Farmers don't need rain gauges or sensors; entering their city instantly resolves live meteorological readings.</a:t>
            </a:r>
            <a:br/>
            <a:br/>
            <a:r>
              <a:t>• Secure Backend Proxy:</a:t>
            </a:r>
            <a:br/>
            <a:r>
              <a:t>Express API securely signs the OpenWeather API token without exposing secrets to client-side browsers.</a:t>
            </a:r>
            <a:br/>
            <a:br/>
            <a:r>
              <a:t>• Real-Time Synchronized Variables:</a:t>
            </a:r>
            <a:br/>
            <a:r>
              <a:t>Live ambient Temperature (°C) and relative Humidity (%).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42255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t>🍃 MongoDB Atlas Cloud Audit</a:t>
            </a:r>
          </a:p>
          <a:p>
            <a:br/>
            <a:r>
              <a:t>• Crop Schema:</a:t>
            </a:r>
            <a:br/>
            <a:r>
              <a:t>Maintains optimal environmental profiles, fertilizer recipes, and botanical descriptions for all 23 crops.</a:t>
            </a:r>
            <a:br/>
            <a:br/>
            <a:r>
              <a:t>• Prediction Audit Schema:</a:t>
            </a:r>
            <a:br/>
            <a:r>
              <a:t>Persists farmer inputs, land size, resulting yield estimate, and timestamp for multi-season audit trails.</a:t>
            </a:r>
            <a:br/>
            <a:br/>
            <a:r>
              <a:t>• Resilient Fallback Architecture:</a:t>
            </a:r>
            <a:br/>
            <a:r>
              <a:t>Automatic fallback to local JSON memory if cloud network drops—ensuring 100% uptime.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DEPLOYMENT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Technologies Used &amp; Cloud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⚙️ Frontend Stack: </a:t>
            </a:r>
            <a:r>
              <a:rPr b="0">
                <a:solidFill>
                  <a:srgbClr val="475569"/>
                </a:solidFill>
              </a:rPr>
              <a:t>React 18 · Vite · Lucide Icons · CSS Grid / Flexbox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⚙️ Backend Stack: </a:t>
            </a:r>
            <a:r>
              <a:rPr b="0">
                <a:solidFill>
                  <a:srgbClr val="475569"/>
                </a:solidFill>
              </a:rPr>
              <a:t>Node.js v24 · Express.js 4 · CORS · 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⚙️ Database Layer: </a:t>
            </a:r>
            <a:r>
              <a:rPr b="0">
                <a:solidFill>
                  <a:srgbClr val="475569"/>
                </a:solidFill>
              </a:rPr>
              <a:t>MongoDB Atlas (Cluster0 AWS) · Mongoose ODM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59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25111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⚙️ Machine Learning: </a:t>
            </a:r>
            <a:r>
              <a:rPr b="0">
                <a:solidFill>
                  <a:srgbClr val="475569"/>
                </a:solidFill>
              </a:rPr>
              <a:t>k-NN Distance Classifier · Z-Score Standardization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19379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32D"/>
                </a:solidFill>
              </a:defRPr>
            </a:pPr>
            <a:r>
              <a:t>⚙️ DevOps &amp; CI/CD: </a:t>
            </a:r>
            <a:r>
              <a:rPr b="0">
                <a:solidFill>
                  <a:srgbClr val="475569"/>
                </a:solidFill>
              </a:rPr>
              <a:t>Git · GitHub · Automated Render.com Web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52160"/>
            <a:ext cx="10728655" cy="54864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532D"/>
                </a:solidFill>
              </a:defRPr>
            </a:pPr>
            <a:r>
              <a:t>🚀 Unified Production Server: Express serves the production React build from a single port on Render.com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rPr dirty="0"/>
              <a:t>🏆 Key Achievements</a:t>
            </a:r>
          </a:p>
          <a:p>
            <a:br>
              <a:rPr sz="1600" dirty="0"/>
            </a:br>
            <a:r>
              <a:rPr sz="1600" dirty="0"/>
              <a:t>• Full-Stack Precision Agriculture Solution</a:t>
            </a:r>
            <a:br>
              <a:rPr sz="1600" dirty="0"/>
            </a:br>
            <a:r>
              <a:rPr sz="1600" dirty="0"/>
              <a:t>Successfully converted legacy scripts into an enterprise MERN web app.</a:t>
            </a:r>
            <a:br>
              <a:rPr sz="1600" dirty="0"/>
            </a:br>
            <a:br>
              <a:rPr sz="1600" dirty="0"/>
            </a:br>
            <a:r>
              <a:rPr sz="1600" dirty="0"/>
              <a:t>• High Model Accuracy (97.52%)</a:t>
            </a:r>
            <a:br>
              <a:rPr sz="1600" dirty="0"/>
            </a:br>
            <a:r>
              <a:rPr sz="1600" dirty="0"/>
              <a:t>Validated across 2,300 samples and 23 distinct crop varieties.</a:t>
            </a:r>
            <a:br>
              <a:rPr sz="1600" dirty="0"/>
            </a:br>
            <a:br>
              <a:rPr sz="1600" dirty="0"/>
            </a:br>
            <a:r>
              <a:rPr sz="1600" dirty="0"/>
              <a:t>• Real-World Actionability</a:t>
            </a:r>
            <a:br>
              <a:rPr sz="1600" dirty="0"/>
            </a:br>
            <a:r>
              <a:rPr sz="1600" dirty="0"/>
              <a:t>Provides concrete acre-scaled harvest yield, seed weight, and fertilizer bag counts.</a:t>
            </a:r>
            <a:br>
              <a:rPr sz="1600" dirty="0"/>
            </a:br>
            <a:br>
              <a:rPr sz="1600" dirty="0"/>
            </a:br>
            <a:r>
              <a:rPr sz="1600" dirty="0"/>
              <a:t>• Instant Weather Sync &amp; Cloud Audit</a:t>
            </a:r>
            <a:br>
              <a:rPr sz="1600" dirty="0"/>
            </a:br>
            <a:r>
              <a:rPr sz="1600" dirty="0"/>
              <a:t>Eliminates manual effort while creating permanent soil health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4225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532D"/>
                </a:solidFill>
              </a:defRPr>
            </a:pPr>
            <a:r>
              <a:rPr dirty="0"/>
              <a:t>🔮 Future Enhancements</a:t>
            </a:r>
          </a:p>
          <a:p>
            <a:br>
              <a:rPr dirty="0"/>
            </a:br>
            <a:r>
              <a:rPr sz="1600" dirty="0"/>
              <a:t>• Multilingual Voice Interface:</a:t>
            </a:r>
            <a:br>
              <a:rPr sz="1600" dirty="0"/>
            </a:br>
            <a:r>
              <a:rPr sz="1600" dirty="0"/>
              <a:t>Voice prompts in regional Indian languages (Telugu, Hindi, Tamil) for accessible farmer interaction.</a:t>
            </a:r>
            <a:br>
              <a:rPr sz="1600" dirty="0"/>
            </a:br>
            <a:br>
              <a:rPr sz="1600" dirty="0"/>
            </a:br>
            <a:r>
              <a:rPr sz="1600" dirty="0"/>
              <a:t>• IoT Soil Sensor Integration:</a:t>
            </a:r>
            <a:br>
              <a:rPr sz="1600" dirty="0"/>
            </a:br>
            <a:r>
              <a:rPr sz="1600" dirty="0"/>
              <a:t>Direct micro-controller (ESP32/Arduino) connection uploading soil moisture &amp; NPK automatically.</a:t>
            </a:r>
            <a:br>
              <a:rPr sz="1600" dirty="0"/>
            </a:br>
            <a:br>
              <a:rPr sz="1600" dirty="0"/>
            </a:br>
            <a:r>
              <a:rPr sz="1600" dirty="0"/>
              <a:t>• Mandi Live Market Price Feeds:</a:t>
            </a:r>
            <a:br>
              <a:rPr sz="1600" dirty="0"/>
            </a:br>
            <a:r>
              <a:rPr sz="1600" dirty="0"/>
              <a:t>Integrating government e-NAM APIs to project revenue and farmer profit margins.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1759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Naik Banavathu</cp:lastModifiedBy>
  <cp:revision>2</cp:revision>
  <dcterms:created xsi:type="dcterms:W3CDTF">2013-01-27T09:14:16Z</dcterms:created>
  <dcterms:modified xsi:type="dcterms:W3CDTF">2026-10-10T17:08:43Z</dcterms:modified>
  <cp:category/>
</cp:coreProperties>
</file>